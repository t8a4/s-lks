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bg-BG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разд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2750" advTm="9051">
        <p14:reveal/>
      </p:transition>
    </mc:Choice>
    <mc:Fallback>
      <p:transition spd="slow" advTm="9051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4691FB39-9CEF-3D78-33FA-E1E537D3D0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9" y="1788454"/>
            <a:ext cx="8117872" cy="2547689"/>
          </a:xfrm>
        </p:spPr>
        <p:txBody>
          <a:bodyPr/>
          <a:lstStyle/>
          <a:p>
            <a:r>
              <a:rPr lang="bg-BG" dirty="0"/>
              <a:t>Апостолът на свободата </a:t>
            </a:r>
          </a:p>
        </p:txBody>
      </p:sp>
    </p:spTree>
    <p:extLst>
      <p:ext uri="{BB962C8B-B14F-4D97-AF65-F5344CB8AC3E}">
        <p14:creationId xmlns:p14="http://schemas.microsoft.com/office/powerpoint/2010/main" val="2320230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11162">
        <p14:reveal/>
      </p:transition>
    </mc:Choice>
    <mc:Fallback>
      <p:transition spd="slow" advTm="1116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BA4BD718-4619-811C-A58C-ABFE500EC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История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52F436E-06AA-70DF-DFDA-2CEFE03C9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232400" cy="3581400"/>
          </a:xfrm>
        </p:spPr>
        <p:txBody>
          <a:bodyPr>
            <a:normAutofit/>
          </a:bodyPr>
          <a:lstStyle/>
          <a:p>
            <a:r>
              <a:rPr lang="bg-BG" dirty="0"/>
              <a:t>Васил Иванов Кунчев е роден на 6 юли (18 юли нов стил) 1837  година в Карлово. През 1845 година започва образованието си в килийното училище в родния си град, а година по-късно вече учи в местното взаимно училище. Едва на 14 години остава без баща и грижите за младия Васил поема вуйчо му Василий Караиванов. 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57CE1D6D-4ED0-570B-1570-790D2858E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3660" y="1253445"/>
            <a:ext cx="4764769" cy="5060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1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686">
        <p14:reveal/>
      </p:transition>
    </mc:Choice>
    <mc:Fallback>
      <p:transition spd="slow" advTm="23686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621344B-3AA4-0235-09A0-CF84A5AFD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История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4B828E58-6EA2-325F-DD32-584FFB713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429829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В периода 1852-1854 година той живее в местния светогорски метох и учи църковно пеене. След като вуйчо му се премества в Стара Загора, Левски го последва и завършва </a:t>
            </a:r>
            <a:r>
              <a:rPr lang="af-ZA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II </a:t>
            </a:r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клас на старозагорското класно училище. Поради отличния успех на момчето вуйчото обещава, че един ден ще го изпрати на учение в Русия. Това така и не се случва. </a:t>
            </a:r>
            <a:endParaRPr lang="bg-BG" dirty="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75CE8DFB-14DE-5A0F-EF51-52891F98B9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29" y="685800"/>
            <a:ext cx="3877450" cy="593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461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118">
        <p14:reveal/>
      </p:transition>
    </mc:Choice>
    <mc:Fallback>
      <p:transition spd="slow" advTm="23118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8D24FA6-4820-CD9B-C900-1C69F526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История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C4E591A8-C9DA-65E1-0A72-775187DA0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359400" cy="3581400"/>
          </a:xfrm>
        </p:spPr>
        <p:txBody>
          <a:bodyPr>
            <a:normAutofit/>
          </a:bodyPr>
          <a:lstStyle/>
          <a:p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През 1856-1857  година младежът учи в свещеническото училище на даскал Атанас Иванов в Стара Загора, а през следващата година приема монашески сан дякон с име Игнатий. През 1858 година е ръкоположен за йеродякон и става църковен певец в църквата „Света Богородица“ в Карлово.</a:t>
            </a:r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436BF632-A738-D181-5360-E6269021E3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388" y="641048"/>
            <a:ext cx="3941855" cy="557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16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186">
        <p14:reveal/>
      </p:transition>
    </mc:Choice>
    <mc:Fallback>
      <p:transition spd="slow" advTm="23186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DE8F59EE-2EFF-22EE-6186-B784531AD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CF18451-49CE-804E-B0BB-3472AC7A8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266543" cy="3581400"/>
          </a:xfrm>
        </p:spPr>
        <p:txBody>
          <a:bodyPr/>
          <a:lstStyle/>
          <a:p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През 1861 година, като следствие на икономическа криза в Османската империя и провежданата стопанска политика, потискаща българите, в революционните среди настъпва раздвижване. Стоил Попов от Калофер и Левски полагат едни от първите усилия за  вдигане народа на борба. По това време българското общество е крайно неподготвено за бунт, поради което и първият революционен опит на Дякона е неуспешен.</a:t>
            </a:r>
            <a:endParaRPr lang="bg-BG" dirty="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E16EFA91-03CA-74BD-79C9-B26F49D29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1269" y="685800"/>
            <a:ext cx="3560604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4732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345">
        <p14:reveal/>
      </p:transition>
    </mc:Choice>
    <mc:Fallback>
      <p:transition spd="slow" advTm="23345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8F2A9510-F7D9-F82A-FFBE-4E650A7F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FD9DF0A-E803-6AC3-1353-DB6D4848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6484257" cy="3581400"/>
          </a:xfrm>
        </p:spPr>
        <p:txBody>
          <a:bodyPr/>
          <a:lstStyle/>
          <a:p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Вместо да се откаже от народното дело, на 3 март 1862 година Левски напуска родния си град и се отправя към Сърбия, за да се присъедини към Първата българска легия, организирана от Раковски. Според легендата по време на военни упражнения той прави „лъвски скок“ и така получава своя прякор.</a:t>
            </a:r>
            <a:endParaRPr lang="bg-BG" dirty="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2BC1E416-0C35-BF42-2E60-FFBED9AC6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5857" y="538237"/>
            <a:ext cx="4053815" cy="6138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52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006">
        <p14:reveal/>
      </p:transition>
    </mc:Choice>
    <mc:Fallback>
      <p:transition spd="slow" advTm="2300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FDCE489-ECA5-798E-DD72-2A2591B44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4AE43332-3B66-5ACE-C323-4174B4CC1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5323114" cy="3581400"/>
          </a:xfrm>
        </p:spPr>
        <p:txBody>
          <a:bodyPr/>
          <a:lstStyle/>
          <a:p>
            <a:r>
              <a:rPr lang="bg-BG" dirty="0"/>
              <a:t>Той учи децата на четмо и писмо, разказва им истории за славното минало на България, пее им хайдушки песни и често изнася уроците си сред природата. Наред с даскалската си дейност той развива революционна пропаганда и подготвя местни дружини, които дават отпор на турски и черкезки разбойнически банди.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4BE888AC-9634-3F49-3024-C45741F703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00" y="1487714"/>
            <a:ext cx="5081814" cy="440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8460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228">
        <p14:reveal/>
      </p:transition>
    </mc:Choice>
    <mc:Fallback>
      <p:transition spd="slow" advTm="23228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2C70792B-AA06-2EF8-2E31-8DC3EEABA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01E3D3BE-19D5-3860-D36E-678CC65D4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744" y="2304143"/>
            <a:ext cx="4724400" cy="3581400"/>
          </a:xfrm>
        </p:spPr>
        <p:txBody>
          <a:bodyPr/>
          <a:lstStyle/>
          <a:p>
            <a:r>
              <a:rPr lang="bg-BG" dirty="0"/>
              <a:t>Опитът с четата на Панайот Хитов, нейният неуспех и първите му революционни стъпки още през 1861 година подсказват на Левски, че погледът на революционерите трябва да се насочи към вътрешността на страната.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86B2986D-1803-74C6-D598-91E7D96BB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2714" y="685800"/>
            <a:ext cx="5914572" cy="59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455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200">
        <p14:reveal/>
      </p:transition>
    </mc:Choice>
    <mc:Fallback>
      <p:transition spd="slow" advTm="232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98B92DCD-B922-6F35-9A12-1319897E7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1C9F18E0-562E-AA1F-AC56-A9029B0CE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7815" y="1638300"/>
            <a:ext cx="4533899" cy="3581400"/>
          </a:xfrm>
        </p:spPr>
        <p:txBody>
          <a:bodyPr/>
          <a:lstStyle/>
          <a:p>
            <a:r>
              <a:rPr lang="bg-BG" dirty="0"/>
              <a:t>Предполага се, че през есента на 1868 година двамата великани на българското революционно движение – Васил Левски и Христо Ботев се срещат и заживяват заедно при изключително тежки условия в изоставена мелница край Букурещ.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2098FF44-6EB7-0DFB-9DCE-9A33A6AC2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857" y="1055644"/>
            <a:ext cx="6197600" cy="528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56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355">
        <p14:reveal/>
      </p:transition>
    </mc:Choice>
    <mc:Fallback>
      <p:transition spd="slow" advTm="23355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C89F079-F703-5C58-C8EF-D69D57CFE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5BF78F65-B9FF-D1B8-829E-F97D56776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029" y="1905000"/>
            <a:ext cx="5812971" cy="3581400"/>
          </a:xfrm>
        </p:spPr>
        <p:txBody>
          <a:bodyPr/>
          <a:lstStyle/>
          <a:p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 В края на 1869 година Апостола, заедно с Любен Каравелов, участва в основаването на Българския революционен централен комитет (БРЦК). Макар Каравелов да възприема някои от идеите на Левски, двамата водачи на революционното движение се разминават в основните си възгледи.</a:t>
            </a:r>
            <a:endParaRPr lang="bg-BG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56D9F0B3-2BB6-C002-11B5-D19E46F63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5390" y="986366"/>
            <a:ext cx="3843867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0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2962">
        <p14:reveal/>
      </p:transition>
    </mc:Choice>
    <mc:Fallback>
      <p:transition spd="slow" advTm="22962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63082902-F618-9597-21AE-89CD66B9A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Дело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509DF5B-5EB2-D1F8-2557-14AF05ADC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9171" y="2171700"/>
            <a:ext cx="4778829" cy="3581400"/>
          </a:xfrm>
        </p:spPr>
        <p:txBody>
          <a:bodyPr/>
          <a:lstStyle/>
          <a:p>
            <a:r>
              <a:rPr lang="bg-BG" dirty="0"/>
              <a:t>Разочарован от неразбирането, което среща сред емигрантите, през май 1870 година Левски се завръща в България, заема се с доизграждането на комитетската мрежа и създаването на ВРО (Вътрешна революционна организация). За столица на организацията е избран Ловеч, а комитетът там се смята и за БРЦК.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62DB868C-CB58-5A9F-D457-5ECCDDCEA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35570"/>
            <a:ext cx="5805714" cy="523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18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181">
        <p14:reveal/>
      </p:transition>
    </mc:Choice>
    <mc:Fallback>
      <p:transition spd="slow" advTm="23181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9B655EF-9AFE-C896-654C-AD124B390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Предателството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02253B7-9B56-81C9-DAB2-0821E053B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458" y="2171700"/>
            <a:ext cx="5794829" cy="3581400"/>
          </a:xfrm>
        </p:spPr>
        <p:txBody>
          <a:bodyPr/>
          <a:lstStyle/>
          <a:p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Левски тръгва с Никола Цветков на 26 декември за Търново. В самара на коня на Цветков е архивът на организацията. Вечерта остават да пренощуват в </a:t>
            </a:r>
            <a:r>
              <a:rPr lang="bg-BG" b="0" i="0" dirty="0" err="1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Къкринското</a:t>
            </a:r>
            <a:r>
              <a:rPr lang="bg-BG" b="0" i="0" dirty="0">
                <a:solidFill>
                  <a:srgbClr val="222222"/>
                </a:solidFill>
                <a:effectLst/>
                <a:latin typeface="Verdana" panose="020B0604030504040204" pitchFamily="34" charset="0"/>
              </a:rPr>
              <a:t> ханче, чийто съдържател е и член на комитета – Христо Цонев Латинеца. </a:t>
            </a:r>
            <a:endParaRPr lang="bg-BG" dirty="0"/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64F1D983-25D6-8696-2EB9-12B9790E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42" y="685800"/>
            <a:ext cx="4876800" cy="5418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5074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174">
        <p14:reveal/>
      </p:transition>
    </mc:Choice>
    <mc:Fallback>
      <p:transition spd="slow" advTm="23174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97839FD-ECC4-9540-37A4-10435D08D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Предателството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6DBD4448-8698-F829-E691-AE4308B548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229" y="2171700"/>
            <a:ext cx="5304971" cy="3581400"/>
          </a:xfrm>
        </p:spPr>
        <p:txBody>
          <a:bodyPr/>
          <a:lstStyle/>
          <a:p>
            <a:r>
              <a:rPr lang="bg-BG" dirty="0"/>
              <a:t> Според общоприетата версия там Левски е трябвало да се срещне с поп Кръстьо, който го предава. Според други версии вината за предателството не бива да се хвърля върху свещеника. Апостола на свободата е заловен от заптиета, обкръжили ханчето. Дяконът опитва да си пробие път чрез стрелба, но е ранен и хванат. От Къкрина е върнат в Ловеч, а после е закаран в Търново и София, където е съден.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901A22D3-901B-C54A-0634-053B6CA1D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8750"/>
            <a:ext cx="5605236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5380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23160">
        <p14:reveal/>
      </p:transition>
    </mc:Choice>
    <mc:Fallback>
      <p:transition spd="slow" advTm="2316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4A039F1-3072-FBD8-8E40-E34FDC86B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Краят 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F475830C-D766-B5D1-BF03-1458E0499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828" y="2171700"/>
            <a:ext cx="5613400" cy="3581400"/>
          </a:xfrm>
        </p:spPr>
        <p:txBody>
          <a:bodyPr/>
          <a:lstStyle/>
          <a:p>
            <a:r>
              <a:rPr lang="bg-BG" dirty="0"/>
              <a:t>Осъден на смърт и на 6 февруари (18 нов стил) 1873 година Апостола на свободата е обесен на мястото, където днес се издига неговият паметник в столицата. Смъртта му не просто предизвиква потрес и скръб сред революционните среди в България и в Румъния, но бележи началото на криза и сътресения, от които революционното движение никога няма да се възстанови напълно.</a:t>
            </a:r>
          </a:p>
        </p:txBody>
      </p:sp>
      <p:pic>
        <p:nvPicPr>
          <p:cNvPr id="4" name="Картина 3">
            <a:extLst>
              <a:ext uri="{FF2B5EF4-FFF2-40B4-BE49-F238E27FC236}">
                <a16:creationId xmlns:a16="http://schemas.microsoft.com/office/drawing/2014/main" id="{3FC86E35-EF67-7E2E-2906-AB299323E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285" y="863599"/>
            <a:ext cx="4771572" cy="555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22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33685">
        <p14:reveal/>
      </p:transition>
    </mc:Choice>
    <mc:Fallback>
      <p:transition spd="slow" advTm="33685">
        <p:fade/>
      </p:transition>
    </mc:Fallback>
  </mc:AlternateContent>
</p:sld>
</file>

<file path=ppt/theme/theme1.xml><?xml version="1.0" encoding="utf-8"?>
<a:theme xmlns:a="http://schemas.openxmlformats.org/drawingml/2006/main" name="TF10001025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Widescreen</PresentationFormat>
  <Paragraphs>27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Franklin Gothic Book</vt:lpstr>
      <vt:lpstr>Verdana</vt:lpstr>
      <vt:lpstr>TF10001025</vt:lpstr>
      <vt:lpstr>Апостолът на свободата </vt:lpstr>
      <vt:lpstr>История</vt:lpstr>
      <vt:lpstr>История </vt:lpstr>
      <vt:lpstr>История </vt:lpstr>
      <vt:lpstr>Дело </vt:lpstr>
      <vt:lpstr>Дело</vt:lpstr>
      <vt:lpstr>Дело</vt:lpstr>
      <vt:lpstr>Дело</vt:lpstr>
      <vt:lpstr>Дело</vt:lpstr>
      <vt:lpstr>Дело</vt:lpstr>
      <vt:lpstr>Дело</vt:lpstr>
      <vt:lpstr>Предателството </vt:lpstr>
      <vt:lpstr>Предателството </vt:lpstr>
      <vt:lpstr>Краят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Апостолът на свободата </dc:title>
  <dc:creator>Ivan Apostolov</dc:creator>
  <cp:lastModifiedBy>asenlyubomirov35@gmail.com</cp:lastModifiedBy>
  <cp:revision>6</cp:revision>
  <dcterms:created xsi:type="dcterms:W3CDTF">2026-02-15T10:55:00Z</dcterms:created>
  <dcterms:modified xsi:type="dcterms:W3CDTF">2026-02-15T17:13:47Z</dcterms:modified>
</cp:coreProperties>
</file>